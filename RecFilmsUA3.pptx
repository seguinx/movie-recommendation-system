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3" r:id="rId1"/>
  </p:sldMasterIdLst>
  <p:notesMasterIdLst>
    <p:notesMasterId r:id="rId11"/>
  </p:notesMasterIdLst>
  <p:sldIdLst>
    <p:sldId id="256" r:id="rId2"/>
    <p:sldId id="259" r:id="rId3"/>
    <p:sldId id="262" r:id="rId4"/>
    <p:sldId id="260" r:id="rId5"/>
    <p:sldId id="261" r:id="rId6"/>
    <p:sldId id="266" r:id="rId7"/>
    <p:sldId id="263" r:id="rId8"/>
    <p:sldId id="264" r:id="rId9"/>
    <p:sldId id="265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2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10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x seguin" userId="c47c39593cf1707d" providerId="LiveId" clId="{56C82717-B78C-4079-A034-267DC212A18F}"/>
    <pc:docChg chg="custSel modSld">
      <pc:chgData name="alex seguin" userId="c47c39593cf1707d" providerId="LiveId" clId="{56C82717-B78C-4079-A034-267DC212A18F}" dt="2026-04-17T22:16:22.318" v="49" actId="20577"/>
      <pc:docMkLst>
        <pc:docMk/>
      </pc:docMkLst>
      <pc:sldChg chg="addSp modSp mod">
        <pc:chgData name="alex seguin" userId="c47c39593cf1707d" providerId="LiveId" clId="{56C82717-B78C-4079-A034-267DC212A18F}" dt="2026-04-17T22:16:22.318" v="49" actId="20577"/>
        <pc:sldMkLst>
          <pc:docMk/>
          <pc:sldMk cId="2558940672" sldId="260"/>
        </pc:sldMkLst>
        <pc:spChg chg="mod">
          <ac:chgData name="alex seguin" userId="c47c39593cf1707d" providerId="LiveId" clId="{56C82717-B78C-4079-A034-267DC212A18F}" dt="2026-04-17T22:16:22.318" v="49" actId="20577"/>
          <ac:spMkLst>
            <pc:docMk/>
            <pc:sldMk cId="2558940672" sldId="260"/>
            <ac:spMk id="3" creationId="{C85BE854-1E37-43EA-67EB-54A346412B80}"/>
          </ac:spMkLst>
        </pc:spChg>
        <pc:picChg chg="add mod">
          <ac:chgData name="alex seguin" userId="c47c39593cf1707d" providerId="LiveId" clId="{56C82717-B78C-4079-A034-267DC212A18F}" dt="2026-04-17T21:46:06.265" v="22" actId="1076"/>
          <ac:picMkLst>
            <pc:docMk/>
            <pc:sldMk cId="2558940672" sldId="260"/>
            <ac:picMk id="6" creationId="{FFB4D75C-C17D-C338-2A64-178F27F655E1}"/>
          </ac:picMkLst>
        </pc:picChg>
        <pc:picChg chg="mod">
          <ac:chgData name="alex seguin" userId="c47c39593cf1707d" providerId="LiveId" clId="{56C82717-B78C-4079-A034-267DC212A18F}" dt="2026-04-17T21:45:54.419" v="20" actId="1076"/>
          <ac:picMkLst>
            <pc:docMk/>
            <pc:sldMk cId="2558940672" sldId="260"/>
            <ac:picMk id="8" creationId="{D52D0E8F-BC5D-39C5-D53A-46FD22FD9DFE}"/>
          </ac:picMkLst>
        </pc:picChg>
        <pc:picChg chg="add mod">
          <ac:chgData name="alex seguin" userId="c47c39593cf1707d" providerId="LiveId" clId="{56C82717-B78C-4079-A034-267DC212A18F}" dt="2026-04-17T21:46:03.222" v="21" actId="1076"/>
          <ac:picMkLst>
            <pc:docMk/>
            <pc:sldMk cId="2558940672" sldId="260"/>
            <ac:picMk id="9" creationId="{A75F97D1-FF1B-0D2E-101D-273738608C44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2E5350-3EDC-40D8-A7EE-3A904327B402}" type="datetimeFigureOut">
              <a:rPr lang="en-CA" smtClean="0"/>
              <a:t>2026-04-19</a:t>
            </a:fld>
            <a:endParaRPr lang="en-CA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CA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291D9F-149D-4022-B9FD-6A3CE887ACEA}" type="slidenum">
              <a:rPr lang="en-CA" smtClean="0"/>
              <a:t>‹N°›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128312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291D9F-149D-4022-B9FD-6A3CE887ACEA}" type="slidenum">
              <a:rPr lang="en-CA" smtClean="0"/>
              <a:t>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925078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4515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9609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2" r:id="rId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projet-outil-infonuagique-ua3-5.onrender.com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0F447467-474F-7A46-9B55-A89C6B0DA1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764E312-CE9E-415A-6543-97AF44950E6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91" t="17901" b="9822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A9CCD9CD-49AE-3D3E-923B-81ECD3FBF7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4581985" y="-752015"/>
            <a:ext cx="6858000" cy="836203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5000">
                <a:srgbClr val="000000">
                  <a:alpha val="50000"/>
                </a:srgbClr>
              </a:gs>
              <a:gs pos="100000">
                <a:srgbClr val="000000">
                  <a:alpha val="60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BCC34A5A-4B67-726E-080C-4797E1C970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20980" y="1893965"/>
            <a:ext cx="4738347" cy="1986802"/>
          </a:xfrm>
        </p:spPr>
        <p:txBody>
          <a:bodyPr>
            <a:normAutofit/>
          </a:bodyPr>
          <a:lstStyle/>
          <a:p>
            <a:pPr algn="r"/>
            <a:r>
              <a:rPr lang="en-CA" sz="3700">
                <a:solidFill>
                  <a:srgbClr val="FFFFFF"/>
                </a:solidFill>
              </a:rPr>
              <a:t>Recommendations de films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1D36D9D-3FF6-0BEB-AD1A-DEBEACF7B8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01102" y="3973128"/>
            <a:ext cx="4738347" cy="1189425"/>
          </a:xfrm>
        </p:spPr>
        <p:txBody>
          <a:bodyPr>
            <a:normAutofit/>
          </a:bodyPr>
          <a:lstStyle/>
          <a:p>
            <a:pPr algn="r"/>
            <a:r>
              <a:rPr lang="en-CA">
                <a:solidFill>
                  <a:srgbClr val="FFFFFF"/>
                </a:solidFill>
              </a:rPr>
              <a:t>KNN, Arbres de decision et SVM</a:t>
            </a:r>
          </a:p>
        </p:txBody>
      </p:sp>
    </p:spTree>
    <p:extLst>
      <p:ext uri="{BB962C8B-B14F-4D97-AF65-F5344CB8AC3E}">
        <p14:creationId xmlns:p14="http://schemas.microsoft.com/office/powerpoint/2010/main" val="35392359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BF0CEE-B0F0-BDA5-EFA1-B173908BA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5072F6A3-1466-826C-C7C1-B1654E0117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4CFBDEE-D546-B82E-51A8-90E0837667E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91" t="17857" b="9865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C29BC907-8227-160A-3814-D12B0C6CCB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507179" y="173179"/>
            <a:ext cx="6858002" cy="65116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33000"/>
                </a:schemeClr>
              </a:gs>
              <a:gs pos="26000">
                <a:schemeClr val="bg1">
                  <a:alpha val="20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CBCDD56-CB72-C153-8D75-8E9A328703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27741" y="1442863"/>
            <a:ext cx="4470544" cy="3474720"/>
          </a:xfrm>
        </p:spPr>
        <p:txBody>
          <a:bodyPr anchor="b">
            <a:normAutofit/>
          </a:bodyPr>
          <a:lstStyle/>
          <a:p>
            <a:pPr algn="l"/>
            <a:r>
              <a:rPr lang="en-CA" sz="3600" dirty="0" err="1"/>
              <a:t>Présentation</a:t>
            </a:r>
            <a:endParaRPr lang="en-CA" sz="3600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E098D79-E225-41AD-84AD-4FAA71A6FC7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27741" y="4917583"/>
            <a:ext cx="4116410" cy="1386840"/>
          </a:xfrm>
        </p:spPr>
        <p:txBody>
          <a:bodyPr anchor="t">
            <a:normAutofit/>
          </a:bodyPr>
          <a:lstStyle/>
          <a:p>
            <a:pPr algn="l"/>
            <a:r>
              <a:rPr lang="en-CA" sz="2400" dirty="0"/>
              <a:t>Dataset, </a:t>
            </a:r>
            <a:r>
              <a:rPr lang="en-CA" sz="2400" dirty="0" err="1"/>
              <a:t>modèles</a:t>
            </a:r>
            <a:r>
              <a:rPr lang="en-CA" sz="2400" dirty="0"/>
              <a:t> </a:t>
            </a:r>
            <a:r>
              <a:rPr lang="en-CA" sz="2400" dirty="0" err="1"/>
              <a:t>utilisés</a:t>
            </a:r>
            <a:r>
              <a:rPr lang="en-CA" sz="2400" dirty="0"/>
              <a:t> et analyse de données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3C6DCA1-527A-5A74-CB02-6350432CAB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430" y="336732"/>
            <a:ext cx="5521538" cy="300936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5F6E2566-050F-067A-A464-3A3C9A334F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8237" y="4294253"/>
            <a:ext cx="6731655" cy="16155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AF7F69FE-119F-3FC8-5C02-0D3E0801D6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79892" y="56023"/>
            <a:ext cx="4717510" cy="367965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1100213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ED2DF5-64BD-C596-AD83-669766EC03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21E0DC6F-DB0E-DBE1-8178-AE81BC6B96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B6F3CCE-2AE2-3E2A-8A16-A94482D4B40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269" r="9091" b="10454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38" name="Rectangle 37">
            <a:extLst>
              <a:ext uri="{FF2B5EF4-FFF2-40B4-BE49-F238E27FC236}">
                <a16:creationId xmlns:a16="http://schemas.microsoft.com/office/drawing/2014/main" id="{84D07BF5-D29E-918E-55FE-747AF2A0E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366726" cy="6858001"/>
          </a:xfrm>
          <a:prstGeom prst="rect">
            <a:avLst/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0E21616-D356-9760-0DE0-D3CC02A256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1035" y="1424475"/>
            <a:ext cx="3424383" cy="2543448"/>
          </a:xfrm>
        </p:spPr>
        <p:txBody>
          <a:bodyPr anchor="t">
            <a:normAutofit/>
          </a:bodyPr>
          <a:lstStyle/>
          <a:p>
            <a:pPr algn="l"/>
            <a:r>
              <a:rPr lang="en-CA" sz="3200"/>
              <a:t>KNN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80A88E8-C162-1A02-0A4B-AC4ECC841F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0697" y="1308845"/>
            <a:ext cx="3424382" cy="2000041"/>
          </a:xfrm>
        </p:spPr>
        <p:txBody>
          <a:bodyPr anchor="b">
            <a:normAutofit/>
          </a:bodyPr>
          <a:lstStyle/>
          <a:p>
            <a:pPr algn="l"/>
            <a:r>
              <a:rPr lang="en-CA" dirty="0"/>
              <a:t>Introduction a un 2e Dataset, Matrice, RMSE, Genre, </a:t>
            </a:r>
            <a:r>
              <a:rPr lang="en-CA" dirty="0" err="1"/>
              <a:t>Suraprentissage</a:t>
            </a:r>
            <a:r>
              <a:rPr lang="en-CA" dirty="0"/>
              <a:t> et Wizard of Oz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B86E8D80-19EB-6EAD-527C-BA2135A732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9357" y="0"/>
            <a:ext cx="7493702" cy="3181974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F363DD33-185F-3158-7C04-A8FE81D896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9356" y="3181985"/>
            <a:ext cx="7493702" cy="3676016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874D2A99-B3A8-51BF-AF1E-FB0F6288E0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2650" y="3613216"/>
            <a:ext cx="3960476" cy="224026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4013487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1B1EDD-07EF-58E4-6897-B1A7D4446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37">
            <a:extLst>
              <a:ext uri="{FF2B5EF4-FFF2-40B4-BE49-F238E27FC236}">
                <a16:creationId xmlns:a16="http://schemas.microsoft.com/office/drawing/2014/main" id="{6E448DB1-4196-18A6-15DA-C72635C1B1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5805B1B-B0C5-4698-BFF5-75791F9E5F6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57" r="9091" b="9865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40" name="Rectangle 39">
            <a:extLst>
              <a:ext uri="{FF2B5EF4-FFF2-40B4-BE49-F238E27FC236}">
                <a16:creationId xmlns:a16="http://schemas.microsoft.com/office/drawing/2014/main" id="{76A10D8F-D463-70E5-239B-17AD65EF4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73183" y="173181"/>
            <a:ext cx="6858002" cy="65116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30000"/>
                </a:schemeClr>
              </a:gs>
              <a:gs pos="26000">
                <a:schemeClr val="bg1">
                  <a:alpha val="17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A4940F1-01E9-DE60-8FD9-649A866099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6506" y="603315"/>
            <a:ext cx="5649211" cy="3685731"/>
          </a:xfrm>
        </p:spPr>
        <p:txBody>
          <a:bodyPr anchor="t">
            <a:normAutofit/>
          </a:bodyPr>
          <a:lstStyle/>
          <a:p>
            <a:pPr algn="l"/>
            <a:r>
              <a:rPr lang="en-CA" sz="6600"/>
              <a:t>Arbres de décisions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85BE854-1E37-43EA-67EB-54A346412B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6507" y="4437176"/>
            <a:ext cx="4007587" cy="1290807"/>
          </a:xfrm>
        </p:spPr>
        <p:txBody>
          <a:bodyPr anchor="ctr">
            <a:normAutofit/>
          </a:bodyPr>
          <a:lstStyle/>
          <a:p>
            <a:pPr algn="l"/>
            <a:r>
              <a:rPr lang="en-CA" sz="2200" dirty="0"/>
              <a:t>Prend </a:t>
            </a:r>
            <a:r>
              <a:rPr lang="en-CA" sz="2200"/>
              <a:t>note moyen + haut, </a:t>
            </a:r>
            <a:r>
              <a:rPr lang="en-CA" sz="2200" dirty="0"/>
              <a:t>data leak et changement </a:t>
            </a:r>
            <a:r>
              <a:rPr lang="en-CA" sz="2200" dirty="0" err="1"/>
              <a:t>en</a:t>
            </a:r>
            <a:r>
              <a:rPr lang="en-CA" sz="2200" dirty="0"/>
              <a:t> </a:t>
            </a:r>
            <a:r>
              <a:rPr lang="en-CA" sz="2200" dirty="0" err="1"/>
              <a:t>binaire</a:t>
            </a:r>
            <a:endParaRPr lang="en-CA" sz="2200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D52D0E8F-BC5D-39C5-D53A-46FD22FD9D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7151" y="83746"/>
            <a:ext cx="4644224" cy="400442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FFB4D75C-C17D-C338-2A64-178F27F655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9530" y="5759661"/>
            <a:ext cx="6319466" cy="1014593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A75F97D1-FF1B-0D2E-101D-273738608C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5717" y="4115955"/>
            <a:ext cx="5487166" cy="1552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89406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EAB919-648E-AC37-496F-01F7E8168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7A875D55-4A80-43E9-38F6-27E3664939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A3BB86-D97C-BDB4-E713-F6111B329E6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0000"/>
          </a:blip>
          <a:srcRect t="14243" b="6252"/>
          <a:stretch>
            <a:fillRect/>
          </a:stretch>
        </p:blipFill>
        <p:spPr>
          <a:xfrm>
            <a:off x="0" y="1"/>
            <a:ext cx="12192000" cy="6857999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F15017D7-63F0-2F44-82D8-20145E09D5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987909"/>
            <a:ext cx="5022801" cy="885825"/>
          </a:xfrm>
        </p:spPr>
        <p:txBody>
          <a:bodyPr>
            <a:normAutofit fontScale="90000"/>
          </a:bodyPr>
          <a:lstStyle/>
          <a:p>
            <a:r>
              <a:rPr lang="en-CA" sz="5400" dirty="0">
                <a:solidFill>
                  <a:srgbClr val="FFFFFF"/>
                </a:solidFill>
              </a:rPr>
              <a:t>SVM </a:t>
            </a:r>
            <a:r>
              <a:rPr lang="en-CA" sz="5400" dirty="0" err="1">
                <a:solidFill>
                  <a:srgbClr val="FFFFFF"/>
                </a:solidFill>
              </a:rPr>
              <a:t>Linéaire</a:t>
            </a:r>
            <a:r>
              <a:rPr lang="en-CA" sz="5400" dirty="0">
                <a:solidFill>
                  <a:srgbClr val="FFFFFF"/>
                </a:solidFill>
              </a:rPr>
              <a:t> ET  API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1CBD2A2E-4817-B7F0-845A-89183B19DF4A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0" y="1949450"/>
            <a:ext cx="7588250" cy="14144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 modèle prédit très bien les "Like"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Il prédit presque tous les films comme "Like"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Il ne reconnaît pas bien les "Dislike"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 modèle est déséquilibré 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D75D9F41-8B0F-6D8D-2751-0ACC15580E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6763" y="3866583"/>
            <a:ext cx="5117153" cy="2122515"/>
          </a:xfrm>
          <a:prstGeom prst="rect">
            <a:avLst/>
          </a:prstGeom>
        </p:spPr>
      </p:pic>
      <p:pic>
        <p:nvPicPr>
          <p:cNvPr id="5" name="Image 4" descr="The image shows a command prompt window displaying a running localhost server, with options to press CTRL+C to stop it and a debug mode with a specified pin number.&#10;&#10;Le contenu généré par l’IA peut être incorrect.">
            <a:extLst>
              <a:ext uri="{FF2B5EF4-FFF2-40B4-BE49-F238E27FC236}">
                <a16:creationId xmlns:a16="http://schemas.microsoft.com/office/drawing/2014/main" id="{AC05CA7F-E7F8-EDC6-5CBA-346B115104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1954" y="3800047"/>
            <a:ext cx="5792008" cy="2038635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56E2FFD0-FA20-1B16-5F14-9B21218181A9}"/>
              </a:ext>
            </a:extLst>
          </p:cNvPr>
          <p:cNvSpPr txBox="1"/>
          <p:nvPr/>
        </p:nvSpPr>
        <p:spPr>
          <a:xfrm>
            <a:off x="5684363" y="2195016"/>
            <a:ext cx="496792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/>
              <a:t>L’API est lancée en local. Le serveur Flask fonctionne sur le port 5000. Cela permet de tester les prédictions en temps réel. </a:t>
            </a:r>
          </a:p>
        </p:txBody>
      </p:sp>
    </p:spTree>
    <p:extLst>
      <p:ext uri="{BB962C8B-B14F-4D97-AF65-F5344CB8AC3E}">
        <p14:creationId xmlns:p14="http://schemas.microsoft.com/office/powerpoint/2010/main" val="31733833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B56464-E3D9-9F82-DF34-F5B075EEF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648180FE-5FA3-6292-E001-7B163AB045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227686-8496-1CD6-6CE3-2BFC294B378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0000"/>
          </a:blip>
          <a:srcRect t="14243" b="6252"/>
          <a:stretch>
            <a:fillRect/>
          </a:stretch>
        </p:blipFill>
        <p:spPr>
          <a:xfrm>
            <a:off x="1" y="1"/>
            <a:ext cx="12192000" cy="6857999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1204C7AF-657D-2C47-2F26-951C6398DD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309301" y="214073"/>
            <a:ext cx="5833409" cy="1031602"/>
          </a:xfrm>
        </p:spPr>
        <p:txBody>
          <a:bodyPr>
            <a:normAutofit/>
          </a:bodyPr>
          <a:lstStyle/>
          <a:p>
            <a:r>
              <a:rPr lang="en-CA" sz="5400" dirty="0">
                <a:solidFill>
                  <a:srgbClr val="FFFFFF"/>
                </a:solidFill>
              </a:rPr>
              <a:t>SVM </a:t>
            </a:r>
            <a:r>
              <a:rPr lang="en-CA" sz="5400" dirty="0" err="1">
                <a:solidFill>
                  <a:srgbClr val="FFFFFF"/>
                </a:solidFill>
              </a:rPr>
              <a:t>Linéaire</a:t>
            </a:r>
            <a:endParaRPr lang="en-CA" sz="5400" dirty="0">
              <a:solidFill>
                <a:srgbClr val="FFFFFF"/>
              </a:solidFill>
            </a:endParaRPr>
          </a:p>
        </p:txBody>
      </p:sp>
      <p:pic>
        <p:nvPicPr>
          <p:cNvPr id="6" name="Image 5" descr="The image displays a web browser window showing a 405 Method Not Allowed error message, indicating the user's request to access a URL was not permitted.&#10;&#10;Le contenu généré par l’IA peut être incorrect.">
            <a:extLst>
              <a:ext uri="{FF2B5EF4-FFF2-40B4-BE49-F238E27FC236}">
                <a16:creationId xmlns:a16="http://schemas.microsoft.com/office/drawing/2014/main" id="{7446B4EA-4E4F-00D4-5BB9-95CC70AB5D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960" y="3429000"/>
            <a:ext cx="4364559" cy="2565532"/>
          </a:xfrm>
          <a:prstGeom prst="rect">
            <a:avLst/>
          </a:prstGeom>
        </p:spPr>
      </p:pic>
      <p:pic>
        <p:nvPicPr>
          <p:cNvPr id="8" name="Image 7" descr="The image shows a computer screen displaying a web address (127.0.0.1:5000) with a series of error messages and a reference to an API (SOM Video Management) being active.&#10;&#10;Le contenu généré par l’IA peut être incorrect.">
            <a:extLst>
              <a:ext uri="{FF2B5EF4-FFF2-40B4-BE49-F238E27FC236}">
                <a16:creationId xmlns:a16="http://schemas.microsoft.com/office/drawing/2014/main" id="{9577BE9A-41D8-306E-7E7E-3DF2F569D7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5539" y="1493560"/>
            <a:ext cx="4230056" cy="3273322"/>
          </a:xfrm>
          <a:prstGeom prst="rect">
            <a:avLst/>
          </a:prstGeom>
        </p:spPr>
      </p:pic>
      <p:sp>
        <p:nvSpPr>
          <p:cNvPr id="9" name="Rectangle 1">
            <a:extLst>
              <a:ext uri="{FF2B5EF4-FFF2-40B4-BE49-F238E27FC236}">
                <a16:creationId xmlns:a16="http://schemas.microsoft.com/office/drawing/2014/main" id="{7E50DABD-CA26-F12E-BD16-CEB793F56EDE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-1" y="1189843"/>
            <a:ext cx="4230056" cy="203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Ajouter une interface web simple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Permettre test direct dans le navigateur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Ajouter validation des entrées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Gérer les erreurs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Déployer sur le cloud 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05AD8DAA-E8F9-D3F7-F6FB-7F1534E1ACE5}"/>
              </a:ext>
            </a:extLst>
          </p:cNvPr>
          <p:cNvSpPr txBox="1"/>
          <p:nvPr/>
        </p:nvSpPr>
        <p:spPr>
          <a:xfrm>
            <a:off x="5823235" y="5071202"/>
            <a:ext cx="485822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/>
              <a:t>Le système fonctionne, mais il nécessite des améliorations pour être plus précis et plus facile à utiliser.</a:t>
            </a:r>
          </a:p>
        </p:txBody>
      </p:sp>
    </p:spTree>
    <p:extLst>
      <p:ext uri="{BB962C8B-B14F-4D97-AF65-F5344CB8AC3E}">
        <p14:creationId xmlns:p14="http://schemas.microsoft.com/office/powerpoint/2010/main" val="29242822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E15774-CF46-7E8F-98B3-E4F7D9BE7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21E0DC6F-DB0E-DBE1-8178-AE81BC6B96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8FD27FB-C7D7-42F7-891E-CCF4494F02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57" r="9091" b="9865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38" name="Rectangle 37">
            <a:extLst>
              <a:ext uri="{FF2B5EF4-FFF2-40B4-BE49-F238E27FC236}">
                <a16:creationId xmlns:a16="http://schemas.microsoft.com/office/drawing/2014/main" id="{84D07BF5-D29E-918E-55FE-747AF2A0E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366726" cy="6858001"/>
          </a:xfrm>
          <a:prstGeom prst="rect">
            <a:avLst/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90CC218-2DAB-226C-2CC1-A9C20AA27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1035" y="1424475"/>
            <a:ext cx="3424383" cy="2543448"/>
          </a:xfrm>
        </p:spPr>
        <p:txBody>
          <a:bodyPr anchor="t">
            <a:normAutofit/>
          </a:bodyPr>
          <a:lstStyle/>
          <a:p>
            <a:pPr algn="l"/>
            <a:r>
              <a:rPr lang="en-CA" sz="3200"/>
              <a:t>API Flask/Fast API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BF52A4E8-3213-C23C-2F89-74AE01AB20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41035" y="5545667"/>
            <a:ext cx="3424382" cy="462170"/>
          </a:xfrm>
        </p:spPr>
        <p:txBody>
          <a:bodyPr anchor="b">
            <a:normAutofit/>
          </a:bodyPr>
          <a:lstStyle/>
          <a:p>
            <a:pPr algn="l"/>
            <a:r>
              <a:rPr lang="en-CA" dirty="0"/>
              <a:t>Tree, SVM et succès du KNN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F8796DCF-C14B-5726-66AF-9DA97FE94985}"/>
              </a:ext>
            </a:extLst>
          </p:cNvPr>
          <p:cNvSpPr txBox="1"/>
          <p:nvPr/>
        </p:nvSpPr>
        <p:spPr>
          <a:xfrm>
            <a:off x="282596" y="2527038"/>
            <a:ext cx="38015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/>
              <a:t>https://projet-outil-infonuagique-ua3.onrender.com/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C389AB0F-4A03-8238-10C8-985710269AF2}"/>
              </a:ext>
            </a:extLst>
          </p:cNvPr>
          <p:cNvSpPr txBox="1"/>
          <p:nvPr/>
        </p:nvSpPr>
        <p:spPr>
          <a:xfrm>
            <a:off x="282596" y="3429000"/>
            <a:ext cx="38015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>
                <a:hlinkClick r:id="rId3" tooltip="https://projet-outil-infonuagique-ua3-5.onrender.com/"/>
              </a:rPr>
              <a:t>https://projet-outil-infonuagique-ua3-5.onrender.com/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9586572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A631CC-9497-D563-E854-9DCD75DAA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35">
            <a:extLst>
              <a:ext uri="{FF2B5EF4-FFF2-40B4-BE49-F238E27FC236}">
                <a16:creationId xmlns:a16="http://schemas.microsoft.com/office/drawing/2014/main" id="{310135D4-D3A1-4556-B91B-4A12069D4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D3CBBB-2681-9E8B-9024-173E3E95550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403" r="9091" b="8320"/>
          <a:stretch>
            <a:fillRect/>
          </a:stretch>
        </p:blipFill>
        <p:spPr>
          <a:xfrm>
            <a:off x="20" y="-1"/>
            <a:ext cx="12191980" cy="6858001"/>
          </a:xfrm>
          <a:prstGeom prst="rect">
            <a:avLst/>
          </a:prstGeom>
        </p:spPr>
      </p:pic>
      <p:sp>
        <p:nvSpPr>
          <p:cNvPr id="38" name="Rectangle 37">
            <a:extLst>
              <a:ext uri="{FF2B5EF4-FFF2-40B4-BE49-F238E27FC236}">
                <a16:creationId xmlns:a16="http://schemas.microsoft.com/office/drawing/2014/main" id="{A9CCD9CD-49AE-3D3E-923B-81ECD3FBF7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2015" y="-752015"/>
            <a:ext cx="6858000" cy="836203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5000">
                <a:srgbClr val="000000">
                  <a:alpha val="50000"/>
                </a:srgbClr>
              </a:gs>
              <a:gs pos="100000">
                <a:srgbClr val="000000">
                  <a:alpha val="60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84395980-26B1-5D54-FA55-4D98C4802A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6918" y="3429000"/>
            <a:ext cx="4506064" cy="1888742"/>
          </a:xfrm>
        </p:spPr>
        <p:txBody>
          <a:bodyPr>
            <a:normAutofit/>
          </a:bodyPr>
          <a:lstStyle/>
          <a:p>
            <a:pPr algn="l"/>
            <a:r>
              <a:rPr lang="en-CA">
                <a:solidFill>
                  <a:srgbClr val="FFFFFF"/>
                </a:solidFill>
              </a:rPr>
              <a:t>KNN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4EB4C6C-9943-6CFE-E5A3-D878FC9474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6916" y="5428229"/>
            <a:ext cx="4506066" cy="899643"/>
          </a:xfrm>
        </p:spPr>
        <p:txBody>
          <a:bodyPr>
            <a:normAutofit/>
          </a:bodyPr>
          <a:lstStyle/>
          <a:p>
            <a:pPr algn="l"/>
            <a:r>
              <a:rPr lang="en-CA" dirty="0">
                <a:solidFill>
                  <a:srgbClr val="FFFFFF"/>
                </a:solidFill>
              </a:rPr>
              <a:t>API, </a:t>
            </a:r>
            <a:r>
              <a:rPr lang="en-CA" dirty="0" err="1">
                <a:solidFill>
                  <a:srgbClr val="FFFFFF"/>
                </a:solidFill>
              </a:rPr>
              <a:t>méthdologie</a:t>
            </a:r>
            <a:r>
              <a:rPr lang="en-CA" dirty="0">
                <a:solidFill>
                  <a:srgbClr val="FFFFFF"/>
                </a:solidFill>
              </a:rPr>
              <a:t> et </a:t>
            </a:r>
            <a:r>
              <a:rPr lang="en-CA" dirty="0" err="1">
                <a:solidFill>
                  <a:srgbClr val="FFFFFF"/>
                </a:solidFill>
              </a:rPr>
              <a:t>résultats</a:t>
            </a:r>
            <a:endParaRPr lang="en-CA" dirty="0">
              <a:solidFill>
                <a:srgbClr val="FFFFFF"/>
              </a:solidFill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89BEFE6C-F8FF-FA1C-B2BA-834D9FD01D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2971" y="4295759"/>
            <a:ext cx="3939009" cy="2562241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8E681934-E54A-C628-9001-FBE0E09759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88906" y="-2"/>
            <a:ext cx="3203074" cy="4295761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BD5685C5-4370-ABD0-1799-1A22B27EF3C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1875" y="-2"/>
            <a:ext cx="5417011" cy="4295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621936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300B50-8E0E-A958-D9C9-15DA69E2E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D3591AD5-6331-0A2A-FE07-373766B0D4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E3CC76-2A4D-66D3-EAA5-1FF1A8A3C52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0000"/>
          </a:blip>
          <a:srcRect t="14243" b="6252"/>
          <a:stretch>
            <a:fillRect/>
          </a:stretch>
        </p:blipFill>
        <p:spPr>
          <a:xfrm>
            <a:off x="1" y="1"/>
            <a:ext cx="12192000" cy="6857999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D8890DB0-91A0-C0A4-4600-0B2BAD1A8A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482602"/>
            <a:ext cx="7588155" cy="2236264"/>
          </a:xfrm>
        </p:spPr>
        <p:txBody>
          <a:bodyPr>
            <a:normAutofit/>
          </a:bodyPr>
          <a:lstStyle/>
          <a:p>
            <a:r>
              <a:rPr lang="en-CA" sz="5400" dirty="0" err="1">
                <a:solidFill>
                  <a:srgbClr val="FFFFFF"/>
                </a:solidFill>
              </a:rPr>
              <a:t>Création</a:t>
            </a:r>
            <a:r>
              <a:rPr lang="en-CA" sz="5400" dirty="0">
                <a:solidFill>
                  <a:srgbClr val="FFFFFF"/>
                </a:solidFill>
              </a:rPr>
              <a:t> d’un nouveau user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3E52563C-EB6E-F0E3-59FE-295E14BAD9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793937"/>
            <a:ext cx="7588155" cy="1414091"/>
          </a:xfrm>
        </p:spPr>
        <p:txBody>
          <a:bodyPr>
            <a:normAutofit/>
          </a:bodyPr>
          <a:lstStyle/>
          <a:p>
            <a:r>
              <a:rPr lang="en-CA" sz="2200" dirty="0">
                <a:solidFill>
                  <a:srgbClr val="FFFFFF"/>
                </a:solidFill>
              </a:rPr>
              <a:t>https://dashboard.render.com/web/srv-d7ekrcbeo5us73fir0gg</a:t>
            </a:r>
          </a:p>
        </p:txBody>
      </p:sp>
    </p:spTree>
    <p:extLst>
      <p:ext uri="{BB962C8B-B14F-4D97-AF65-F5344CB8AC3E}">
        <p14:creationId xmlns:p14="http://schemas.microsoft.com/office/powerpoint/2010/main" val="41671715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3513b79f-ce8d-43d6-b7e5-c12d3e236916}" enabled="1" method="Standard" siteId="{ad8a84ef-f1f3-4b14-ad08-b99ca66f7e30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1108</TotalTime>
  <Words>206</Words>
  <Application>Microsoft Office PowerPoint</Application>
  <PresentationFormat>Grand écran</PresentationFormat>
  <Paragraphs>32</Paragraphs>
  <Slides>9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3" baseType="lpstr">
      <vt:lpstr>Aptos</vt:lpstr>
      <vt:lpstr>Arial</vt:lpstr>
      <vt:lpstr>Neue Haas Grotesk Text Pro</vt:lpstr>
      <vt:lpstr>VanillaVTI</vt:lpstr>
      <vt:lpstr>Recommendations de films</vt:lpstr>
      <vt:lpstr>Présentation</vt:lpstr>
      <vt:lpstr>KNN</vt:lpstr>
      <vt:lpstr>Arbres de décisions</vt:lpstr>
      <vt:lpstr>SVM Linéaire ET  API</vt:lpstr>
      <vt:lpstr>SVM Linéaire</vt:lpstr>
      <vt:lpstr>API Flask/Fast API</vt:lpstr>
      <vt:lpstr>KNN</vt:lpstr>
      <vt:lpstr>Création d’un nouveau user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Jacob Beaudry</dc:creator>
  <cp:lastModifiedBy>Jacob Beaudry</cp:lastModifiedBy>
  <cp:revision>6</cp:revision>
  <dcterms:created xsi:type="dcterms:W3CDTF">2026-04-17T20:04:04Z</dcterms:created>
  <dcterms:modified xsi:type="dcterms:W3CDTF">2026-04-19T22:29:49Z</dcterms:modified>
</cp:coreProperties>
</file>